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EGP / month</c:v>
                </c:pt>
              </c:strCache>
            </c:strRef>
          </c:tx>
          <c:dPt>
            <c:idx val="0"/>
            <c:spPr>
              <a:solidFill>
                <a:srgbClr val="25D366"/>
              </a:solidFill>
            </c:spPr>
          </c:dPt>
          <c:dPt>
            <c:idx val="1"/>
            <c:spPr>
              <a:solidFill>
                <a:srgbClr val="F5A524"/>
              </a:solidFill>
            </c:spPr>
          </c:dPt>
          <c:dPt>
            <c:idx val="2"/>
            <c:spPr>
              <a:solidFill>
                <a:srgbClr val="8B6CFF"/>
              </a:solidFill>
            </c:spPr>
          </c:dPt>
          <c:dPt>
            <c:idx val="3"/>
            <c:spPr>
              <a:solidFill>
                <a:srgbClr val="8B6CFF"/>
              </a:solidFill>
            </c:spPr>
          </c:dPt>
          <c:dPt>
            <c:idx val="4"/>
            <c:spPr>
              <a:solidFill>
                <a:srgbClr val="8B6CFF"/>
              </a:solidFill>
            </c:spPr>
          </c:dPt>
          <c:cat>
            <c:strRef>
              <c:f>Sheet1!$A$2:$A$6</c:f>
              <c:strCache>
                <c:ptCount val="5"/>
                <c:pt idx="0">
                  <c:v>Staff time</c:v>
                </c:pt>
                <c:pt idx="1">
                  <c:v>Refusals avoided</c:v>
                </c:pt>
                <c:pt idx="2">
                  <c:v>Upsell</c:v>
                </c:pt>
                <c:pt idx="3">
                  <c:v>After-hours orders</c:v>
                </c:pt>
                <c:pt idx="4">
                  <c:v>Saved-order margin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3960</c:v>
                </c:pt>
                <c:pt idx="1">
                  <c:v>11736</c:v>
                </c:pt>
                <c:pt idx="2">
                  <c:v>10080</c:v>
                </c:pt>
                <c:pt idx="3">
                  <c:v>16200</c:v>
                </c:pt>
                <c:pt idx="4">
                  <c:v>11883</c:v>
                </c:pt>
              </c:numCache>
            </c:numRef>
          </c:val>
        </c:ser>
        <c:dLbls>
          <c:numFmt formatCode="#,##0&quot; EGP&quot;" sourceLinked="0"/>
          <c:txPr>
            <a:bodyPr/>
            <a:lstStyle/>
            <a:p>
              <a:pPr>
                <a:defRPr sz="1200" b="1">
                  <a:solidFill>
                    <a:srgbClr val="F2F4F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03C"/>
            </a:solidFill>
          </a:ln>
        </c:spPr>
        <c:txPr>
          <a:bodyPr/>
          <a:lstStyle/>
          <a:p>
            <a:pPr>
              <a:defRPr>
                <a:solidFill>
                  <a:srgbClr val="F2F4F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87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F2F4F8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Ta2keed means 'confirmation'. One sentence: it replaces the person who sits in the DMs all day confirming COD orders, and it stops the refusals that eat the shop's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pilot profile with the real shop you talked to, and its real numbers. Judges score measurable impact for a real 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Amber steps 4-6 are the money-protecting part — that's what differentiates this from a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 for judges: fewer messages, not more. 4 courier updates -&gt; 2 customer messages. And every refusal makes the risk engine smarter for that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on the right are produced by the agent's own event log (/api/impact), not typed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>
                <a:solidFill>
                  <a:srgbClr val="0E1117"/>
                </a:solidFill>
                <a:latin typeface="Segoe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05156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2F4F8"/>
                </a:solidFill>
                <a:latin typeface="Segoe UI"/>
              </a:rPr>
              <a:t>Ta2keed </a:t>
            </a:r>
            <a:r>
              <a:rPr sz="4000" b="0">
                <a:solidFill>
                  <a:srgbClr val="25D366"/>
                </a:solidFill>
                <a:latin typeface="Segoe UI"/>
              </a:rPr>
              <a:t>تأكيد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F2F4F8"/>
                </a:solidFill>
                <a:latin typeface="Segoe UI"/>
              </a:rPr>
              <a:t>The AI agent that confirms, de-risks and ships cash-on-delivery orders for Egyptian social-commerce shops — without a human in the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8E96A8"/>
                </a:solidFill>
                <a:latin typeface="Segoe UI"/>
              </a:rPr>
              <a:t>DM in  →  order confirmed  →  deposit verified  →  courier booked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29260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88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816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returned to the owner /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3891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572000"/>
            <a:ext cx="29260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25% → 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816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COD refusal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38912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572000"/>
            <a:ext cx="292608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53,859 EGP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518160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monthly impact (projected)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8E96A8"/>
                </a:solidFill>
                <a:latin typeface="Segoe UI"/>
              </a:rPr>
              <a:t>Agents at Work 2026 · Mahmoud Gamal · github.com/MahmoudJimmey/Ta2keed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THE SME WE BUILT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Instagram &amp; WhatsApp shops that live on cash-on-delivery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120640" cy="452628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Pilot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2F4F8"/>
                </a:solidFill>
                <a:latin typeface="Segoe UI"/>
              </a:rPr>
              <a:t>Nour Boutique (نور بوتيك)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66344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Women's fashion, sells only via Instagram, Facebook &amp; WhatsApp DMs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~600 orders / month, almost all cash-on-delivery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1 person answers DMs, confirms, books the courier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~9 min of manual handling per order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~25% of parcels refused at the door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Each refusal costs ~120 EGP (shipping + return) and a week of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5669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Why this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011680"/>
            <a:ext cx="5623560" cy="89611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Huge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084832"/>
            <a:ext cx="38404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Social commerce is how most small Egyptian brands sell — no website, no checkout, just DMs.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035808"/>
            <a:ext cx="5623560" cy="89611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127248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Cash-first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108960"/>
            <a:ext cx="38404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COD dominates, so the shop carries the risk of every order until the courier collects.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5623560" cy="89611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151376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Painful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133088"/>
            <a:ext cx="38404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Refusals, fake transfer screenshots and slow replies are the #1 complaints of these owners.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5084064"/>
            <a:ext cx="5623560" cy="896112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5175504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Underserved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157216"/>
            <a:ext cx="38404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Global tools (Shopify bots, US chatbots) don't speak Egyptian Arabic or InstaPay.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Pilot numbers live in data/store.json → economics; this deck regenerates from them (python -m scripts.make_slides).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THE WORKFLOW WE REPLACED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From 9 minutes of copy-paste per order to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5D5D"/>
                </a:solidFill>
                <a:latin typeface="Segoe UI"/>
              </a:rPr>
              <a:t>BEFORE — a person does this for every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AFTER — Ta2keed does it, 24/7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Read messy DM, ask for size / colour /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3 min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21031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Understands Egyptian Arabic, Franco &amp; voice notes; asks only what's missing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06040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Copy order into a sheet or notebook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06040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1.5 min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89320" y="27889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606040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06040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Writes the order to the database + CSV/Excel export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91840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91840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Call / message to confirm the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91840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2 min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34747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3291840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291840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Sends a clear order summary; customer just replies "OK"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977639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39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Chase InstaPay screenshot, check it by eye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39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1.5 min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89320" y="41605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3977639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39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Reads the receipt, checks amount, recipient, status &amp; re-use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63440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63440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Book courier, send tracking to 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63440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1 min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89320" y="48463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09360" y="4663440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663440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Books Bosta and sends tracking automatically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49240"/>
            <a:ext cx="539496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349240"/>
            <a:ext cx="384048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Absorb refused parcels (~1 in 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349240"/>
            <a:ext cx="128016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5D5D"/>
                </a:solidFill>
                <a:latin typeface="Segoe UI"/>
              </a:rPr>
              <a:t>120 EGP each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989320" y="5532120"/>
            <a:ext cx="274320" cy="237744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5349240"/>
            <a:ext cx="5349240" cy="58521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349240"/>
            <a:ext cx="5029200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Scores refusal risk and asks risky orders for a deposit first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8E96A8"/>
                </a:solidFill>
                <a:latin typeface="Segoe UI"/>
              </a:rPr>
              <a:t>Human time per order: </a:t>
            </a:r>
            <a:r>
              <a:rPr sz="1400" b="1">
                <a:solidFill>
                  <a:srgbClr val="25D366"/>
                </a:solidFill>
                <a:latin typeface="Segoe UI"/>
              </a:rPr>
              <a:t>9 min → 0 min</a:t>
            </a:r>
            <a:r>
              <a:rPr sz="1400" b="0">
                <a:solidFill>
                  <a:srgbClr val="8E96A8"/>
                </a:solidFill>
                <a:latin typeface="Segoe UI"/>
              </a:rPr>
              <a:t>   (owner only reviews the daily digest)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HOW THE AGENT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One conversation, eight autonomous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4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847088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Arabic / Franco / voice → items, size, colour, name, phone, address, 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82880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847088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688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Asks for only the missing field, pushes for building &amp; floor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847088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Upsell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Offers a matching item at a small discount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459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35440" y="1828800"/>
            <a:ext cx="502920" cy="502920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847088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Score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Explainable COD-refusal score with reasons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033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904487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Deposit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262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Risky orders pay 100 EGP via InstaPay / Vodafone Cash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7033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0" y="3886200"/>
            <a:ext cx="502920" cy="502920"/>
          </a:xfrm>
          <a:prstGeom prst="ellipse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3886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904487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5262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Auto receipt checks, then owner taps ✅ (money arrived)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7033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00800" y="388620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886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904487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262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Books Bosta, sends tracking &amp; amount due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60" y="370332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35440" y="3886200"/>
            <a:ext cx="502920" cy="502920"/>
          </a:xfrm>
          <a:prstGeom prst="ellipse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38862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E1117"/>
                </a:solidFill>
                <a:latin typeface="Segoe U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3904487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526280"/>
            <a:ext cx="2331720" cy="960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Live dashboard, CSV, Telegram daily digest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806440"/>
            <a:ext cx="11109960" cy="502920"/>
          </a:xfrm>
          <a:prstGeom prst="roundRect">
            <a:avLst>
              <a:gd name="adj" fmla="val 8000"/>
            </a:avLst>
          </a:prstGeom>
          <a:solidFill>
            <a:srgbClr val="1B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806440"/>
            <a:ext cx="10789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8B6CFF"/>
                </a:solidFill>
                <a:latin typeface="Segoe UI"/>
              </a:rPr>
              <a:t>Safe by design: </a:t>
            </a:r>
            <a:r>
              <a:rPr sz="1250" b="0">
                <a:solidFill>
                  <a:srgbClr val="F2F4F8"/>
                </a:solidFill>
                <a:latin typeface="Segoe UI"/>
              </a:rPr>
              <a:t>a deterministic state machine owns prices, deposits and shipments. The (optional) LLM only reads text and images — a prompt can't make an order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AFTER THE ORDER IS 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Every parcel tracked; customer pinged only when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5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Picked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dashboard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82112" y="2057400"/>
            <a:ext cx="182880" cy="228600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F2F4F8"/>
                </a:solidFill>
                <a:latin typeface="Segoe UI"/>
              </a:rPr>
              <a:t>In transit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488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dashboard only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16752" y="2057400"/>
            <a:ext cx="182880" cy="228600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Out for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5D366"/>
                </a:solidFill>
                <a:latin typeface="Segoe UI"/>
              </a:rPr>
              <a:t>🔔 customer notified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51392" y="2057400"/>
            <a:ext cx="182880" cy="228600"/>
          </a:xfrm>
          <a:prstGeom prst="rightArrow">
            <a:avLst/>
          </a:prstGeom>
          <a:solidFill>
            <a:srgbClr val="8E9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6002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916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>
                <a:solidFill>
                  <a:srgbClr val="25D366"/>
                </a:solidFill>
                <a:latin typeface="Segoe UI"/>
              </a:rPr>
              <a:t>Delivered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488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25D366"/>
                </a:solidFill>
                <a:latin typeface="Segoe UI"/>
              </a:rPr>
              <a:t>🔔 customer notified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0632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5A524"/>
                </a:solidFill>
                <a:latin typeface="Segoe UI"/>
              </a:rPr>
              <a:t>Failed attempt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F2F4F8"/>
                </a:solidFill>
                <a:latin typeface="Segoe UI"/>
              </a:rPr>
              <a:t>Customer: "when should we come back?" Reply goes to the owner as a reschedule.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0632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5D5D"/>
                </a:solidFill>
                <a:latin typeface="Segoe UI"/>
              </a:rPr>
              <a:t>Refused / returned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47472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F2F4F8"/>
                </a:solidFill>
                <a:latin typeface="Segoe UI"/>
              </a:rPr>
              <a:t>Silent to the customer. Owner alerted. Customer history updated, so next time a deposit is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0632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8B6CFF"/>
                </a:solidFill>
                <a:latin typeface="Segoe UI"/>
              </a:rPr>
              <a:t>+24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7472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F2F4F8"/>
                </a:solidFill>
                <a:latin typeface="Segoe UI"/>
              </a:rPr>
              <a:t>Rating 1-5. A low rating triggers an apology and an instant owner alert.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9718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063240"/>
            <a:ext cx="2286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8B6CFF"/>
                </a:solidFill>
                <a:latin typeface="Segoe UI"/>
              </a:rPr>
              <a:t>+14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474720"/>
            <a:ext cx="228600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F2F4F8"/>
                </a:solidFill>
                <a:latin typeface="Segoe UI"/>
              </a:rPr>
              <a:t>Personal reorder offer + discount code. Repeat order reuses the saved address.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92040"/>
            <a:ext cx="11109960" cy="1097280"/>
          </a:xfrm>
          <a:prstGeom prst="roundRect">
            <a:avLst>
              <a:gd name="adj" fmla="val 8000"/>
            </a:avLst>
          </a:prstGeom>
          <a:solidFill>
            <a:srgbClr val="122A1C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956048"/>
            <a:ext cx="10698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5D366"/>
                </a:solidFill>
                <a:latin typeface="Segoe UI"/>
              </a:rPr>
              <a:t>Owner on WhatsApp: </a:t>
            </a:r>
            <a:r>
              <a:rPr sz="1300" b="0">
                <a:solidFill>
                  <a:srgbClr val="F2F4F8"/>
                </a:solidFill>
                <a:latin typeface="Segoe UI"/>
              </a:rPr>
              <a:t>instant alerts only for problems, plus a 21:00 daily summary (orders, cash collected, refusals, ratings, repeat orders). Answers summary / deliveries / pending commands on demand.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5D366"/>
                </a:solidFill>
                <a:latin typeface="Segoe UI"/>
              </a:rPr>
              <a:t>Courier: </a:t>
            </a:r>
            <a:r>
              <a:rPr sz="1300" b="0">
                <a:solidFill>
                  <a:srgbClr val="F2F4F8"/>
                </a:solidFill>
                <a:latin typeface="Segoe UI"/>
              </a:rPr>
              <a:t>Bosta webhook or any courier or own driver via one endpoint. Refusal rate becomes measured, not estimated.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A live agent: 5 real conversations, one tap from the owner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6 / 14</a:t>
            </a:r>
          </a:p>
        </p:txBody>
      </p:sp>
      <p:pic>
        <p:nvPicPr>
          <p:cNvPr id="7" name="Picture 6" descr="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675120" cy="4635500"/>
          </a:xfrm>
          <a:prstGeom prst="rect">
            <a:avLst/>
          </a:prstGeom>
          <a:ln>
            <a:solidFill>
              <a:srgbClr val="2A303C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498079" y="1554480"/>
            <a:ext cx="4160520" cy="434340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45920"/>
            <a:ext cx="3749039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Measured in the demo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011680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Conversations handled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011680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363724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Orders auto-confirmed &amp; 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363724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715768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Risky orders flagged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715768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067812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Fake receipts blocked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3067812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419856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Deposits 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419856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 (100 EGP)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771900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Risky parcels NOT shipped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3771900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 (saved 125 EGP)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123944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Upsells accepted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4123944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1/5 (+120 EGP)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475988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Delivered / cash collected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475988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 (950 EGP)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828032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Courier updates → customer msgs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4828032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4 →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180076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Rating · repeat orders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5180076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5.0 ·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5532120"/>
            <a:ext cx="233172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  <a:latin typeface="Segoe UI"/>
              </a:rPr>
              <a:t>Owner taps (deposit confirmed)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532120"/>
            <a:ext cx="1691640" cy="34747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50" b="1">
                <a:solidFill>
                  <a:srgbClr val="25D366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Runs in &lt; 5 min with no API keys (./run.sh → ▶ Play demo)  ·  71 automated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MEASURED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53,859 EGP per month for a 600-order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8E96A8"/>
                </a:solidFill>
                <a:latin typeface="Segoe UI"/>
              </a:rPr>
              <a:t>DOES IT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✓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WhatsApp / Telegram / web chat, courier booking, receipt checks — end to 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6002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83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8E96A8"/>
                </a:solidFill>
                <a:latin typeface="Segoe UI"/>
              </a:rPr>
              <a:t>TIME 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88 h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600 orders × 9 min no longer done by hand ≈ half a full-time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8E96A8"/>
                </a:solidFill>
                <a:latin typeface="Segoe UI"/>
              </a:rPr>
              <a:t>COST SAVED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5A524"/>
                </a:solidFill>
                <a:latin typeface="Segoe UI"/>
              </a:rPr>
              <a:t>15,696 EGP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Staff time 3,960 EGP + refused-parcel losses avoided 11,736 EGP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6002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830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8E96A8"/>
                </a:solidFill>
                <a:latin typeface="Segoe UI"/>
              </a:rPr>
              <a:t>REVENUE GENERATED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8B6CFF"/>
                </a:solidFill>
                <a:latin typeface="Segoe UI"/>
              </a:rPr>
              <a:t>38,163 EGP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71800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2F4F8"/>
                </a:solidFill>
                <a:latin typeface="Segoe UI"/>
              </a:rPr>
              <a:t>Upsell 10,080 EGP + after-hours orders 16,200 EGP + saved orders 11,883 EGP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4632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122A1C"/>
          </a:solidFill>
          <a:ln w="1270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685800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8E96A8"/>
                </a:solidFill>
                <a:latin typeface="Segoe UI"/>
              </a:rPr>
              <a:t>Refusal rate  </a:t>
            </a:r>
            <a:r>
              <a:rPr sz="3000" b="1">
                <a:solidFill>
                  <a:srgbClr val="25D366"/>
                </a:solidFill>
                <a:latin typeface="Segoe UI"/>
              </a:rPr>
              <a:t>25%  →  8.7%</a:t>
            </a:r>
          </a:p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≈ 98 fewer refused parcels every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37760"/>
            <a:ext cx="3840480" cy="960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3000" b="1">
                <a:solidFill>
                  <a:srgbClr val="25D366"/>
                </a:solidFill>
                <a:latin typeface="Segoe UI"/>
              </a:rPr>
              <a:t>53,859 EGP</a:t>
            </a:r>
          </a:p>
          <a:p>
            <a:pPr algn="r"/>
            <a:r>
              <a:rPr sz="1200" b="0">
                <a:solidFill>
                  <a:srgbClr val="8E96A8"/>
                </a:solidFill>
                <a:latin typeface="Segoe UI"/>
              </a:rPr>
              <a:t>total monthly impact (cost saved + new revenue)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80760"/>
            <a:ext cx="111556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Projection from the pilot baseline (slide 9 lists every assumption). Measured counters come from the agent's event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WHERE THE MONEY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Monthly impact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8 / 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554480"/>
            <a:ext cx="3794760" cy="44805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Reading the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48840"/>
            <a:ext cx="338328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5D366"/>
                </a:solidFill>
                <a:latin typeface="Segoe UI"/>
              </a:rPr>
              <a:t>■ </a:t>
            </a:r>
            <a:r>
              <a:rPr sz="1300" b="1">
                <a:solidFill>
                  <a:srgbClr val="F2F4F8"/>
                </a:solidFill>
                <a:latin typeface="Segoe UI"/>
              </a:rPr>
              <a:t>Cost saved</a:t>
            </a:r>
            <a:r>
              <a:rPr sz="1300" b="0">
                <a:solidFill>
                  <a:srgbClr val="8E96A8"/>
                </a:solidFill>
                <a:latin typeface="Segoe UI"/>
              </a:rPr>
              <a:t> — time the owner gets back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5A524"/>
                </a:solidFill>
                <a:latin typeface="Segoe UI"/>
              </a:rPr>
              <a:t>■ </a:t>
            </a:r>
            <a:r>
              <a:rPr sz="1300" b="1">
                <a:solidFill>
                  <a:srgbClr val="F2F4F8"/>
                </a:solidFill>
                <a:latin typeface="Segoe UI"/>
              </a:rPr>
              <a:t>Cost saved</a:t>
            </a:r>
            <a:r>
              <a:rPr sz="1300" b="0">
                <a:solidFill>
                  <a:srgbClr val="8E96A8"/>
                </a:solidFill>
                <a:latin typeface="Segoe UI"/>
              </a:rPr>
              <a:t> — outbound + return fees on parcels that would have been refused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8B6CFF"/>
                </a:solidFill>
                <a:latin typeface="Segoe UI"/>
              </a:rPr>
              <a:t>■ </a:t>
            </a:r>
            <a:r>
              <a:rPr sz="1300" b="1">
                <a:solidFill>
                  <a:srgbClr val="F2F4F8"/>
                </a:solidFill>
                <a:latin typeface="Segoe UI"/>
              </a:rPr>
              <a:t>New revenue</a:t>
            </a:r>
            <a:r>
              <a:rPr sz="1300" b="0">
                <a:solidFill>
                  <a:srgbClr val="8E96A8"/>
                </a:solidFill>
                <a:latin typeface="Segoe UI"/>
              </a:rPr>
              <a:t> — upsells, DMs answered at 2 AM, and orders the deposit turns into real sales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F2F4F8"/>
                </a:solidFill>
                <a:latin typeface="Segoe U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F2F4F8"/>
                </a:solidFill>
                <a:latin typeface="Segoe UI"/>
              </a:rPr>
              <a:t>Biggest single lever: </a:t>
            </a:r>
            <a:r>
              <a:rPr sz="1300" b="0">
                <a:solidFill>
                  <a:srgbClr val="8E96A8"/>
                </a:solidFill>
                <a:latin typeface="Segoe UI"/>
              </a:rPr>
              <a:t>the deposit gate. It only asks the ~30% riskiest orders for 100 EGP, so good customers never feel friction.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WHY THIS AGENT, NOT A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Built for the Egyptian market and for money-safety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9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🗣️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Speaks the customer's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Egyptian Arabic, Franco-Arabic, Arabic-Indic digits, voice notes, Egyptian areas → shipping zones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3736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Local payment 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4884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InstaPay &amp; Vodafone Cash deposits: auto fraud checks (wrong account, low amount, reused) + owner taps ✅ on Telegram/WhatsApp before anything 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🛡️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2004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Can't be talked into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61188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Prices, totals, deposits and shipments are code, not LLM output — prompt-injection test included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06324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24612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0040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Explainable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61188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Every risk score lists its reasons; every action is logged and visible to the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262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66344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Talks less, not more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07492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Customers get only delivery highlights; owners get only problems + one daily summary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709160"/>
            <a:ext cx="7315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F2F4F8"/>
                </a:solidFill>
                <a:latin typeface="Segoe UI Emoji"/>
              </a:rPr>
              <a:t>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663440"/>
            <a:ext cx="42976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2F4F8"/>
                </a:solidFill>
                <a:latin typeface="Segoe UI"/>
              </a:rPr>
              <a:t>New shop in minutes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5074920"/>
            <a:ext cx="4343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8E96A8"/>
                </a:solidFill>
                <a:latin typeface="Segoe UI"/>
              </a:rPr>
              <a:t>Catalogue, upsell pairs, zones, fees and deposit policy live in one store.json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HOW WE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Every number is traceable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Measured by the agent (event 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orders created / confirmed / auto-shipped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risky orders flagged and their reasons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deposits verified, fake receipts blocked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risky parcels stopped before shipping + fees saved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upsells offered vs accepted, upsell revenue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• after-hours orders, human minutes spent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Live at /api/impact and on the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5A524"/>
                </a:solidFill>
                <a:latin typeface="Segoe UI"/>
              </a:rPr>
              <a:t>Pilot baseline used for the monthly projection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920240"/>
          <a:ext cx="5349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Orders / month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600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Manual minutes / order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Staff cost / hour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45 EGP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Baseline refusal rate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25%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Refusal rate with deposit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4%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Share of orders flagged risky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30%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Loss per refused parcel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120 EGP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Average basket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540 EGP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Gross margin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45%</a:t>
                      </a:r>
                    </a:p>
                  </a:txBody>
                  <a:tcPr marL="109728">
                    <a:solidFill>
                      <a:srgbClr val="181C2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2F4F8"/>
                          </a:solidFill>
                          <a:latin typeface="Segoe UI"/>
                        </a:rPr>
                        <a:t>Upsell acceptance used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2F4F8"/>
                          </a:solidFill>
                          <a:latin typeface="Segoe UI"/>
                        </a:rPr>
                        <a:t>17% (capped at 25%)</a:t>
                      </a:r>
                    </a:p>
                  </a:txBody>
                  <a:tcPr marL="109728">
                    <a:solidFill>
                      <a:srgbClr val="1F242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155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E96A8"/>
                </a:solidFill>
                <a:latin typeface="Segoe UI"/>
              </a:rPr>
              <a:t>Conservative by design: upsell rate is blended with a 15% prior and capped; only half of saved orders are counted as sales.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From hackathon to a product SMEs hire on Wesam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11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25D366"/>
                </a:solidFill>
                <a:latin typeface="Segoe UI"/>
              </a:rPr>
              <a:t>750 EGP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suggested price /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E96A8"/>
                </a:solidFill>
                <a:latin typeface="Segoe UI"/>
              </a:rPr>
              <a:t>Less than one refused parcel a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00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25D366"/>
                </a:solidFill>
                <a:latin typeface="Segoe UI"/>
              </a:rPr>
              <a:t>72×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68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return on price for the pilot 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78892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E96A8"/>
                </a:solidFill>
                <a:latin typeface="Segoe UI"/>
              </a:rPr>
              <a:t>Pays for itself in the first ~day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83080"/>
            <a:ext cx="31089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25D366"/>
                </a:solidFill>
                <a:latin typeface="Segoe UI"/>
              </a:rPr>
              <a:t>&lt; 1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to onboard a new 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88920"/>
            <a:ext cx="31089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8E96A8"/>
                </a:solidFill>
                <a:latin typeface="Segoe UI"/>
              </a:rPr>
              <a:t>Edit store.json, connect WhatsApp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97680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201168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97680"/>
            <a:ext cx="87782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WhatsApp + Telegram + web, Bosta, receipt checks, delivery tracking, follow-ups, daily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73168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73168"/>
            <a:ext cx="201168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Next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773168"/>
            <a:ext cx="87782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Pilot with 3 real shops; calibrate risk weights on their order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48656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48656"/>
            <a:ext cx="201168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Then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248656"/>
            <a:ext cx="87782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Instagram DM channel, Shopify/WooCommerce sync, courier status → auto follow-ups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24144"/>
            <a:ext cx="11109960" cy="402336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724144"/>
            <a:ext cx="201168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724144"/>
            <a:ext cx="87782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  <a:latin typeface="Segoe UI"/>
              </a:rPr>
              <a:t>List on Wesam's marketplace so any Egyptian SME can hire it in one click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SEE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Run it in under five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12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Judge quick-start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12064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>git clone https://github.com/MahmoudJimmey/Ta2keed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>cd Ta2keed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>./run.sh        # Windows: run.bat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># open http://localhost:8000  →  ▶ Play demo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4F8"/>
                </a:solidFill>
                <a:latin typeface="Consolas"/>
              </a:rPr>
              <a:t>pytest -q       # 71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512064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8"/>
                </a:solidFill>
                <a:latin typeface="Segoe UI"/>
              </a:rPr>
              <a:t>No API keys, no accounts, no database server.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E96A8"/>
                </a:solidFill>
                <a:latin typeface="Segoe UI"/>
              </a:rPr>
              <a:t>Optional .env adds LLM, WhatsApp, Telegram, Bosta.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25D366"/>
                </a:solidFill>
                <a:latin typeface="Segoe UI"/>
              </a:rPr>
              <a:t>5 demo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892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1. </a:t>
            </a:r>
            <a:r>
              <a:rPr sz="1300" b="0">
                <a:solidFill>
                  <a:srgbClr val="F2F4F8"/>
                </a:solidFill>
                <a:latin typeface="Segoe UI"/>
              </a:rPr>
              <a:t>Messy Franco/Arabic order → upsell → confirmed →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44368"/>
            <a:ext cx="4892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2. </a:t>
            </a:r>
            <a:r>
              <a:rPr sz="1300" b="0">
                <a:solidFill>
                  <a:srgbClr val="F2F4F8"/>
                </a:solidFill>
                <a:latin typeface="Segoe UI"/>
              </a:rPr>
              <a:t>Risky first-time order → deposit → fake receipt caught → owner confirms real transfer → shipped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94176"/>
            <a:ext cx="4892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3. </a:t>
            </a:r>
            <a:r>
              <a:rPr sz="1300" b="0">
                <a:solidFill>
                  <a:srgbClr val="F2F4F8"/>
                </a:solidFill>
                <a:latin typeface="Segoe UI"/>
              </a:rPr>
              <a:t>Customer with 3 past refusals → deposit required → customer cancels (return fee saved)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443983"/>
            <a:ext cx="4892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4. </a:t>
            </a:r>
            <a:r>
              <a:rPr sz="1300" b="0">
                <a:solidFill>
                  <a:srgbClr val="F2F4F8"/>
                </a:solidFill>
                <a:latin typeface="Segoe UI"/>
              </a:rPr>
              <a:t>Customer asks questions first (shipping, sizes) then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193792"/>
            <a:ext cx="48920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25D366"/>
                </a:solidFill>
                <a:latin typeface="Segoe UI"/>
              </a:rPr>
              <a:t>5. </a:t>
            </a:r>
            <a:r>
              <a:rPr sz="1300" b="0">
                <a:solidFill>
                  <a:srgbClr val="F2F4F8"/>
                </a:solidFill>
                <a:latin typeface="Segoe UI"/>
              </a:rPr>
              <a:t>Full journey: order → courier updates (highlights only) → delivered → rating → reorder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5D366"/>
                </a:solidFill>
                <a:latin typeface="Segoe U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2F4F8"/>
                </a:solidFill>
                <a:latin typeface="Segoe UI"/>
              </a:rPr>
              <a:t>What could go wrong — and how we handle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8E96A8"/>
                </a:solidFill>
                <a:latin typeface="Segoe UI"/>
              </a:rPr>
              <a:t>Ta2keed · Agents at Work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960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8E96A8"/>
                </a:solidFill>
                <a:latin typeface="Segoe UI"/>
              </a:rPr>
              <a:t>13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93192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6576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Rules miss an unusual 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0020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00200"/>
            <a:ext cx="667512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Falls back to the LLM when configured; always asks instead of guessing; owner sees every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393192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6576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Fake receipts get more sophisticated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46888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468880"/>
            <a:ext cx="667512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Checks recipient, amount, status, duplicate reference &amp; image hash; then the OWNER confirms the money arrived in the bank app before shipping (AI-made or recycled screenshots can't 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393192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36576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Deposit annoys good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33756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337560"/>
            <a:ext cx="667512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Only the riskiest ~30% are asked; trusted repeat buyers get a lower score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393192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36576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Risk weights are generic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0624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206240"/>
            <a:ext cx="667512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Transparent weights; calibrate on each shop's own delivered/refused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393192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365760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WhatsApp API needs Meta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5074920"/>
            <a:ext cx="6995160" cy="749808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5074920"/>
            <a:ext cx="667512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0">
                <a:solidFill>
                  <a:srgbClr val="F2F4F8"/>
                </a:solidFill>
                <a:latin typeface="Segoe UI"/>
              </a:rPr>
              <a:t>Telegram + web chat work today; WhatsApp webhook is implemented and 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2F4F8"/>
                </a:solidFill>
                <a:latin typeface="Segoe UI"/>
              </a:rPr>
              <a:t>Every COD order confirmed, de-risked, shipped.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8E96A8"/>
                </a:solidFill>
                <a:latin typeface="Segoe UI"/>
              </a:rPr>
              <a:t>No human in the loop. No new app for the customer. Just WhatsApp.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88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358640"/>
            <a:ext cx="2880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time saved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56616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749039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15,696 EGP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358640"/>
            <a:ext cx="2880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cost saved /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566160"/>
            <a:ext cx="3337560" cy="1234440"/>
          </a:xfrm>
          <a:prstGeom prst="roundRect">
            <a:avLst>
              <a:gd name="adj" fmla="val 8000"/>
            </a:avLst>
          </a:prstGeom>
          <a:solidFill>
            <a:srgbClr val="18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49039"/>
            <a:ext cx="28803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25D366"/>
                </a:solidFill>
                <a:latin typeface="Segoe UI"/>
              </a:rPr>
              <a:t>38,163 EGP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358640"/>
            <a:ext cx="2880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2F4F8"/>
                </a:solidFill>
                <a:latin typeface="Segoe UI"/>
              </a:rPr>
              <a:t>new revenue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5D366"/>
                </a:solidFill>
                <a:latin typeface="Segoe UI"/>
              </a:rPr>
              <a:t>github.com/MahmoudJimmey/Ta2keed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8E96A8"/>
                </a:solidFill>
                <a:latin typeface="Segoe UI"/>
              </a:rPr>
              <a:t>Mahmoud Gamal · Agents at Work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