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EGP / month</c:v>
                </c:pt>
              </c:strCache>
            </c:strRef>
          </c:tx>
          <c:dPt>
            <c:idx val="0"/>
            <c:spPr>
              <a:solidFill>
                <a:srgbClr val="25D366"/>
              </a:solidFill>
            </c:spPr>
          </c:dPt>
          <c:dPt>
            <c:idx val="1"/>
            <c:spPr>
              <a:solidFill>
                <a:srgbClr val="F5A524"/>
              </a:solidFill>
            </c:spPr>
          </c:dPt>
          <c:dPt>
            <c:idx val="2"/>
            <c:spPr>
              <a:solidFill>
                <a:srgbClr val="8B6CFF"/>
              </a:solidFill>
            </c:spPr>
          </c:dPt>
          <c:dPt>
            <c:idx val="3"/>
            <c:spPr>
              <a:solidFill>
                <a:srgbClr val="8B6CFF"/>
              </a:solidFill>
            </c:spPr>
          </c:dPt>
          <c:dPt>
            <c:idx val="4"/>
            <c:spPr>
              <a:solidFill>
                <a:srgbClr val="8B6CFF"/>
              </a:solidFill>
            </c:spPr>
          </c:dPt>
          <c:cat>
            <c:strRef>
              <c:f>Sheet1!$A$2:$A$6</c:f>
              <c:strCache>
                <c:ptCount val="5"/>
                <c:pt idx="0">
                  <c:v>Staff time</c:v>
                </c:pt>
                <c:pt idx="1">
                  <c:v>Refusals avoided</c:v>
                </c:pt>
                <c:pt idx="2">
                  <c:v>Upsell</c:v>
                </c:pt>
                <c:pt idx="3">
                  <c:v>After-hours orders</c:v>
                </c:pt>
                <c:pt idx="4">
                  <c:v>Saved-order margin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3960</c:v>
                </c:pt>
                <c:pt idx="1">
                  <c:v>11736</c:v>
                </c:pt>
                <c:pt idx="2">
                  <c:v>12600</c:v>
                </c:pt>
                <c:pt idx="3">
                  <c:v>16200</c:v>
                </c:pt>
                <c:pt idx="4">
                  <c:v>11883</c:v>
                </c:pt>
              </c:numCache>
            </c:numRef>
          </c:val>
        </c:ser>
        <c:dLbls>
          <c:numFmt formatCode="#,##0&quot; EGP&quot;" sourceLinked="0"/>
          <c:txPr>
            <a:bodyPr/>
            <a:lstStyle/>
            <a:p>
              <a:pPr>
                <a:defRPr sz="1200" b="1">
                  <a:solidFill>
                    <a:srgbClr val="F2F4F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2A303C"/>
            </a:solidFill>
          </a:ln>
        </c:spPr>
        <c:txPr>
          <a:bodyPr/>
          <a:lstStyle/>
          <a:p>
            <a:pPr>
              <a:defRPr>
                <a:solidFill>
                  <a:srgbClr val="F2F4F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187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F2F4F8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Ta2keed means 'confirmation'. One sentence: it replaces the person who sits in the DMs all day confirming COD orders, and it stops the refusals that eat the shop's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Replace the pilot profile with the real shop you talked to, and its real numbers. Judges score measurable impact for a real SME.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Amber steps 4-6 are the money-protecting part — that's what differentiates this from a chatbot.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on the right are produced by the agent's own event log (/api/impact), not typed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822960" cy="822960"/>
          </a:xfrm>
          <a:prstGeom prst="roundRect">
            <a:avLst>
              <a:gd name="adj" fmla="val 20000"/>
            </a:avLst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82296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4000" b="1">
                <a:solidFill>
                  <a:srgbClr val="0E1117"/>
                </a:solidFill>
                <a:latin typeface="Segoe UI"/>
              </a:rP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051560"/>
            <a:ext cx="73152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5400" b="1">
                <a:solidFill>
                  <a:srgbClr val="F2F4F8"/>
                </a:solidFill>
                <a:latin typeface="Segoe UI"/>
              </a:rPr>
              <a:t>Ta2keed </a:t>
            </a:r>
            <a:r>
              <a:rPr sz="4000" b="0">
                <a:solidFill>
                  <a:srgbClr val="25D366"/>
                </a:solidFill>
                <a:latin typeface="Segoe UI"/>
              </a:rPr>
              <a:t>تأكيد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0">
                <a:solidFill>
                  <a:srgbClr val="F2F4F8"/>
                </a:solidFill>
                <a:latin typeface="Segoe UI"/>
              </a:rPr>
              <a:t>The AI agent that confirms, de-risks and ships cash-on-delivery orders for Egyptian social-commerce shops — without a human in the loop.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0">
                <a:solidFill>
                  <a:srgbClr val="8E96A8"/>
                </a:solidFill>
                <a:latin typeface="Segoe UI"/>
              </a:rPr>
              <a:t>DM in  →  order confirmed  →  deposit verified  →  courier booked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389120"/>
            <a:ext cx="3383280" cy="123444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572000"/>
            <a:ext cx="292608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5D366"/>
                </a:solidFill>
                <a:latin typeface="Segoe UI"/>
              </a:rPr>
              <a:t>88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181600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returned to the owner / month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4389120"/>
            <a:ext cx="3383280" cy="123444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4572000"/>
            <a:ext cx="292608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5D366"/>
                </a:solidFill>
                <a:latin typeface="Segoe UI"/>
              </a:rPr>
              <a:t>25% → 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181600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COD refusal rate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4389120"/>
            <a:ext cx="3383280" cy="123444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4572000"/>
            <a:ext cx="292608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5D366"/>
                </a:solidFill>
                <a:latin typeface="Segoe UI"/>
              </a:rPr>
              <a:t>56,379 EGP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5181600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monthly impact (projected)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8E96A8"/>
                </a:solidFill>
                <a:latin typeface="Segoe UI"/>
              </a:rPr>
              <a:t>Agents at Work 2026 · Mahmoud Gamal · github.com/MahmoudJimmey/Ta2keed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THE SME WE BUILT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Instagram &amp; WhatsApp shops that live on cash-on-delivery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2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120640" cy="452628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46634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5D366"/>
                </a:solidFill>
                <a:latin typeface="Segoe UI"/>
              </a:rPr>
              <a:t>Pilot profile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46634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2F4F8"/>
                </a:solidFill>
                <a:latin typeface="Segoe UI"/>
              </a:rPr>
              <a:t>Nour Boutique (نور بوتيك)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97480"/>
            <a:ext cx="4663440" cy="3291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2F4F8"/>
                </a:solidFill>
                <a:latin typeface="Segoe UI"/>
              </a:rPr>
              <a:t>• Women's fashion, sells only via Instagram, Facebook &amp; WhatsApp DMs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2F4F8"/>
                </a:solidFill>
                <a:latin typeface="Segoe UI"/>
              </a:rPr>
              <a:t>• ~600 orders / month, almost all cash-on-delivery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2F4F8"/>
                </a:solidFill>
                <a:latin typeface="Segoe UI"/>
              </a:rPr>
              <a:t>• 1 person answers DMs, confirms, books the courier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2F4F8"/>
                </a:solidFill>
                <a:latin typeface="Segoe UI"/>
              </a:rPr>
              <a:t>• ~9 min of manual handling per order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2F4F8"/>
                </a:solidFill>
                <a:latin typeface="Segoe UI"/>
              </a:rPr>
              <a:t>• ~25% of parcels refused at the door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2F4F8"/>
                </a:solidFill>
                <a:latin typeface="Segoe UI"/>
              </a:rPr>
              <a:t>• Each refusal costs ~120 EGP (shipping + return) and a week of stock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155448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5D366"/>
                </a:solidFill>
                <a:latin typeface="Segoe UI"/>
              </a:rPr>
              <a:t>Why this segment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2011680"/>
            <a:ext cx="5623560" cy="896112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2103120"/>
            <a:ext cx="155448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25D366"/>
                </a:solidFill>
                <a:latin typeface="Segoe UI"/>
              </a:rPr>
              <a:t>Huge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2084832"/>
            <a:ext cx="38404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>
                <a:solidFill>
                  <a:srgbClr val="F2F4F8"/>
                </a:solidFill>
                <a:latin typeface="Segoe UI"/>
              </a:rPr>
              <a:t>Social commerce is how most small Egyptian brands sell — no website, no checkout, just DMs.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3035808"/>
            <a:ext cx="5623560" cy="896112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3127248"/>
            <a:ext cx="155448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25D366"/>
                </a:solidFill>
                <a:latin typeface="Segoe UI"/>
              </a:rPr>
              <a:t>Cash-first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3108960"/>
            <a:ext cx="38404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>
                <a:solidFill>
                  <a:srgbClr val="F2F4F8"/>
                </a:solidFill>
                <a:latin typeface="Segoe UI"/>
              </a:rPr>
              <a:t>COD dominates, so the shop carries the risk of every order until the courier collects.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4059936"/>
            <a:ext cx="5623560" cy="896112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4151376"/>
            <a:ext cx="155448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25D366"/>
                </a:solidFill>
                <a:latin typeface="Segoe UI"/>
              </a:rPr>
              <a:t>Painful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4133088"/>
            <a:ext cx="38404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>
                <a:solidFill>
                  <a:srgbClr val="F2F4F8"/>
                </a:solidFill>
                <a:latin typeface="Segoe UI"/>
              </a:rPr>
              <a:t>Refusals, fake transfer screenshots and slow replies are the #1 complaints of these owners.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5084064"/>
            <a:ext cx="5623560" cy="896112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5175504"/>
            <a:ext cx="155448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25D366"/>
                </a:solidFill>
                <a:latin typeface="Segoe UI"/>
              </a:rPr>
              <a:t>Underserved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5157216"/>
            <a:ext cx="38404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>
                <a:solidFill>
                  <a:srgbClr val="F2F4F8"/>
                </a:solidFill>
                <a:latin typeface="Segoe UI"/>
              </a:rPr>
              <a:t>Global tools (Shopify bots, US chatbots) don't speak Egyptian Arabic or InstaPay.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12648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Pilot numbers live in data/store.json → economics; this deck regenerates from them (python -m scripts.make_slides).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THE WORKFLOW WE REPLACED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From 9 minutes of copy-paste per order to zero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3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5D5D"/>
                </a:solidFill>
                <a:latin typeface="Segoe UI"/>
              </a:rPr>
              <a:t>BEFORE — a person does this for every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50876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5D366"/>
                </a:solidFill>
                <a:latin typeface="Segoe UI"/>
              </a:rPr>
              <a:t>AFTER — Ta2keed does it, 24/7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20240"/>
            <a:ext cx="539496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384048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Read messy DM, ask for size / colour / address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920240"/>
            <a:ext cx="128016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300" b="1">
                <a:solidFill>
                  <a:srgbClr val="FF5D5D"/>
                </a:solidFill>
                <a:latin typeface="Segoe UI"/>
              </a:rPr>
              <a:t>3 min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89320" y="2103120"/>
            <a:ext cx="274320" cy="237744"/>
          </a:xfrm>
          <a:prstGeom prst="rightArrow">
            <a:avLst/>
          </a:prstGeom>
          <a:solidFill>
            <a:srgbClr val="8E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0" y="1920240"/>
            <a:ext cx="534924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25D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920240"/>
            <a:ext cx="502920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Understands Egyptian Arabic, Franco &amp; voice notes; asks only what's missing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606040"/>
            <a:ext cx="539496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606040"/>
            <a:ext cx="384048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Copy order into a sheet or notebook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606040"/>
            <a:ext cx="128016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300" b="1">
                <a:solidFill>
                  <a:srgbClr val="FF5D5D"/>
                </a:solidFill>
                <a:latin typeface="Segoe UI"/>
              </a:rPr>
              <a:t>1.5 min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989320" y="2788920"/>
            <a:ext cx="274320" cy="237744"/>
          </a:xfrm>
          <a:prstGeom prst="rightArrow">
            <a:avLst/>
          </a:prstGeom>
          <a:solidFill>
            <a:srgbClr val="8E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09360" y="2606040"/>
            <a:ext cx="534924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25D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06040"/>
            <a:ext cx="502920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Writes the order to the database + CSV/Excel export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291840"/>
            <a:ext cx="539496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291840"/>
            <a:ext cx="384048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Call / message to confirm the order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291840"/>
            <a:ext cx="128016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300" b="1">
                <a:solidFill>
                  <a:srgbClr val="FF5D5D"/>
                </a:solidFill>
                <a:latin typeface="Segoe UI"/>
              </a:rPr>
              <a:t>2 min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989320" y="3474720"/>
            <a:ext cx="274320" cy="237744"/>
          </a:xfrm>
          <a:prstGeom prst="rightArrow">
            <a:avLst/>
          </a:prstGeom>
          <a:solidFill>
            <a:srgbClr val="8E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09360" y="3291840"/>
            <a:ext cx="534924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25D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291840"/>
            <a:ext cx="502920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Sends a clear order summary; customer just replies "OK"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977639"/>
            <a:ext cx="539496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977639"/>
            <a:ext cx="384048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Chase InstaPay screenshot, check it by eye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977639"/>
            <a:ext cx="128016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300" b="1">
                <a:solidFill>
                  <a:srgbClr val="FF5D5D"/>
                </a:solidFill>
                <a:latin typeface="Segoe UI"/>
              </a:rPr>
              <a:t>1.5 min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5989320" y="4160520"/>
            <a:ext cx="274320" cy="237744"/>
          </a:xfrm>
          <a:prstGeom prst="rightArrow">
            <a:avLst/>
          </a:prstGeom>
          <a:solidFill>
            <a:srgbClr val="8E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309360" y="3977639"/>
            <a:ext cx="534924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25D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3977639"/>
            <a:ext cx="502920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Reads the receipt, checks amount, recipient, status &amp; re-use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663440"/>
            <a:ext cx="539496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663440"/>
            <a:ext cx="384048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Book courier, send tracking to customer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663440"/>
            <a:ext cx="128016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300" b="1">
                <a:solidFill>
                  <a:srgbClr val="FF5D5D"/>
                </a:solidFill>
                <a:latin typeface="Segoe UI"/>
              </a:rPr>
              <a:t>1 min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5989320" y="4846320"/>
            <a:ext cx="274320" cy="237744"/>
          </a:xfrm>
          <a:prstGeom prst="rightArrow">
            <a:avLst/>
          </a:prstGeom>
          <a:solidFill>
            <a:srgbClr val="8E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309360" y="4663440"/>
            <a:ext cx="534924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25D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2240" y="4663440"/>
            <a:ext cx="502920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Books Bosta and sends tracking automatically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349240"/>
            <a:ext cx="539496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5349240"/>
            <a:ext cx="384048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Absorb refused parcels (~1 in 4)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5349240"/>
            <a:ext cx="128016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300" b="1">
                <a:solidFill>
                  <a:srgbClr val="FF5D5D"/>
                </a:solidFill>
                <a:latin typeface="Segoe UI"/>
              </a:rPr>
              <a:t>120 EGP each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5989320" y="5532120"/>
            <a:ext cx="274320" cy="237744"/>
          </a:xfrm>
          <a:prstGeom prst="rightArrow">
            <a:avLst/>
          </a:prstGeom>
          <a:solidFill>
            <a:srgbClr val="8E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309360" y="5349240"/>
            <a:ext cx="534924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25D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0" y="5349240"/>
            <a:ext cx="502920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Scores refusal risk and asks risky orders for a deposit first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8E96A8"/>
                </a:solidFill>
                <a:latin typeface="Segoe UI"/>
              </a:rPr>
              <a:t>Human time per order: </a:t>
            </a:r>
            <a:r>
              <a:rPr sz="1400" b="1">
                <a:solidFill>
                  <a:srgbClr val="25D366"/>
                </a:solidFill>
                <a:latin typeface="Segoe UI"/>
              </a:rPr>
              <a:t>9 min → 0 min</a:t>
            </a:r>
            <a:r>
              <a:rPr sz="1400" b="0">
                <a:solidFill>
                  <a:srgbClr val="8E96A8"/>
                </a:solidFill>
                <a:latin typeface="Segoe UI"/>
              </a:rPr>
              <a:t>   (owner only reviews the daily digest)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HOW THE AGENT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One conversation, eight autonomous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4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828800"/>
            <a:ext cx="502920" cy="502920"/>
          </a:xfrm>
          <a:prstGeom prst="ellipse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E1117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847088"/>
            <a:ext cx="173736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F2F4F8"/>
                </a:solidFill>
                <a:latin typeface="Segoe UI"/>
              </a:rPr>
              <a:t>Understand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68880"/>
            <a:ext cx="23317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Arabic / Franco / voice → items, size, colour, name, phone, address, zone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6459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66160" y="1828800"/>
            <a:ext cx="502920" cy="502920"/>
          </a:xfrm>
          <a:prstGeom prst="ellipse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182880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E1117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1847088"/>
            <a:ext cx="173736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F2F4F8"/>
                </a:solidFill>
                <a:latin typeface="Segoe UI"/>
              </a:rPr>
              <a:t>Complete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468880"/>
            <a:ext cx="23317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Asks for only the missing field, pushes for building &amp; floor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459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0" y="1828800"/>
            <a:ext cx="502920" cy="502920"/>
          </a:xfrm>
          <a:prstGeom prst="ellipse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82880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E1117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1847088"/>
            <a:ext cx="173736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F2F4F8"/>
                </a:solidFill>
                <a:latin typeface="Segoe UI"/>
              </a:rPr>
              <a:t>Upsell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468880"/>
            <a:ext cx="23317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Offers a matching item at a small discount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16459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0" y="1828800"/>
            <a:ext cx="502920" cy="502920"/>
          </a:xfrm>
          <a:prstGeom prst="ellipse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82880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E1117"/>
                </a:solidFill>
                <a:latin typeface="Segoe U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0" y="1847088"/>
            <a:ext cx="173736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F2F4F8"/>
                </a:solidFill>
                <a:latin typeface="Segoe UI"/>
              </a:rPr>
              <a:t>Score 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468880"/>
            <a:ext cx="23317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Explainable COD-refusal score with reasons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7033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3886200"/>
            <a:ext cx="502920" cy="502920"/>
          </a:xfrm>
          <a:prstGeom prst="ellipse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88620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E1117"/>
                </a:solidFill>
                <a:latin typeface="Segoe U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3904487"/>
            <a:ext cx="173736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F2F4F8"/>
                </a:solidFill>
                <a:latin typeface="Segoe UI"/>
              </a:rPr>
              <a:t>Deposit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526280"/>
            <a:ext cx="23317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Risky orders pay 100 EGP via InstaPay / Vodafone Cash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83280" y="37033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566160" y="3886200"/>
            <a:ext cx="502920" cy="502920"/>
          </a:xfrm>
          <a:prstGeom prst="ellipse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66160" y="388620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E1117"/>
                </a:solidFill>
                <a:latin typeface="Segoe U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3904487"/>
            <a:ext cx="173736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F2F4F8"/>
                </a:solidFill>
                <a:latin typeface="Segoe UI"/>
              </a:rPr>
              <a:t>Verify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0" y="4526280"/>
            <a:ext cx="23317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Receipt fraud checks: recipient, amount, status, re-use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37033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400800" y="3886200"/>
            <a:ext cx="502920" cy="502920"/>
          </a:xfrm>
          <a:prstGeom prst="ellipse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388620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E1117"/>
                </a:solidFill>
                <a:latin typeface="Segoe UI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0880" y="3904487"/>
            <a:ext cx="173736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F2F4F8"/>
                </a:solidFill>
                <a:latin typeface="Segoe UI"/>
              </a:rPr>
              <a:t>Ship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526280"/>
            <a:ext cx="23317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Books Bosta, sends tracking &amp; amount due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2560" y="37033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235440" y="3886200"/>
            <a:ext cx="502920" cy="502920"/>
          </a:xfrm>
          <a:prstGeom prst="ellipse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35440" y="388620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E1117"/>
                </a:solidFill>
                <a:latin typeface="Segoe UI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75520" y="3904487"/>
            <a:ext cx="173736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F2F4F8"/>
                </a:solidFill>
                <a:latin typeface="Segoe UI"/>
              </a:rPr>
              <a:t>Report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35440" y="4526280"/>
            <a:ext cx="23317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Live dashboard, CSV, Telegram daily digest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" y="5806440"/>
            <a:ext cx="11109960" cy="502920"/>
          </a:xfrm>
          <a:prstGeom prst="roundRect">
            <a:avLst>
              <a:gd name="adj" fmla="val 8000"/>
            </a:avLst>
          </a:prstGeom>
          <a:solidFill>
            <a:srgbClr val="1B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5806440"/>
            <a:ext cx="10789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1">
                <a:solidFill>
                  <a:srgbClr val="8B6CFF"/>
                </a:solidFill>
                <a:latin typeface="Segoe UI"/>
              </a:rPr>
              <a:t>Safe by design: </a:t>
            </a:r>
            <a:r>
              <a:rPr sz="1250" b="0">
                <a:solidFill>
                  <a:srgbClr val="F2F4F8"/>
                </a:solidFill>
                <a:latin typeface="Segoe UI"/>
              </a:rPr>
              <a:t>a deterministic state machine owns prices, deposits and shipments. The (optional) LLM only reads text and images — a prompt can't make an order free.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DOES IT WORK?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A live agent: four real conversations, zero human touches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5 / 13</a:t>
            </a:r>
          </a:p>
        </p:txBody>
      </p:sp>
      <p:pic>
        <p:nvPicPr>
          <p:cNvPr id="7" name="Picture 6" descr="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675120" cy="4227576"/>
          </a:xfrm>
          <a:prstGeom prst="rect">
            <a:avLst/>
          </a:prstGeom>
          <a:ln>
            <a:solidFill>
              <a:srgbClr val="2A303C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7498079" y="1554480"/>
            <a:ext cx="4160520" cy="43434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1691640"/>
            <a:ext cx="374903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5D366"/>
                </a:solidFill>
                <a:latin typeface="Segoe UI"/>
              </a:rPr>
              <a:t>Measured in the demo run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148840"/>
            <a:ext cx="237744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F2F4F8"/>
                </a:solidFill>
                <a:latin typeface="Segoe UI"/>
              </a:rPr>
              <a:t>Conversations handled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2148840"/>
            <a:ext cx="155448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50" b="1">
                <a:solidFill>
                  <a:srgbClr val="25D366"/>
                </a:solidFill>
                <a:latin typeface="Segoe U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2606040"/>
            <a:ext cx="237744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F2F4F8"/>
                </a:solidFill>
                <a:latin typeface="Segoe UI"/>
              </a:rPr>
              <a:t>Orders auto-confirmed &amp; shipped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606040"/>
            <a:ext cx="155448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50" b="1">
                <a:solidFill>
                  <a:srgbClr val="25D366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3063240"/>
            <a:ext cx="237744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F2F4F8"/>
                </a:solidFill>
                <a:latin typeface="Segoe UI"/>
              </a:rPr>
              <a:t>Risky orders flagged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0" y="3063240"/>
            <a:ext cx="155448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50" b="1">
                <a:solidFill>
                  <a:srgbClr val="25D366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3520440"/>
            <a:ext cx="237744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F2F4F8"/>
                </a:solidFill>
                <a:latin typeface="Segoe UI"/>
              </a:rPr>
              <a:t>Fake receipts blocked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3520440"/>
            <a:ext cx="155448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50" b="1">
                <a:solidFill>
                  <a:srgbClr val="25D366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3977639"/>
            <a:ext cx="237744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F2F4F8"/>
                </a:solidFill>
                <a:latin typeface="Segoe UI"/>
              </a:rPr>
              <a:t>Deposits verified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6960" y="3977639"/>
            <a:ext cx="155448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50" b="1">
                <a:solidFill>
                  <a:srgbClr val="25D366"/>
                </a:solidFill>
                <a:latin typeface="Segoe UI"/>
              </a:rPr>
              <a:t>1 (100 EGP)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4434840"/>
            <a:ext cx="237744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F2F4F8"/>
                </a:solidFill>
                <a:latin typeface="Segoe UI"/>
              </a:rPr>
              <a:t>Risky parcels NOT shipped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60" y="4434840"/>
            <a:ext cx="155448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50" b="1">
                <a:solidFill>
                  <a:srgbClr val="25D366"/>
                </a:solidFill>
                <a:latin typeface="Segoe UI"/>
              </a:rPr>
              <a:t>1 (saved 125 EGP)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79" y="4892040"/>
            <a:ext cx="237744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F2F4F8"/>
                </a:solidFill>
                <a:latin typeface="Segoe UI"/>
              </a:rPr>
              <a:t>Upsells accepted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4892040"/>
            <a:ext cx="155448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50" b="1">
                <a:solidFill>
                  <a:srgbClr val="25D366"/>
                </a:solidFill>
                <a:latin typeface="Segoe UI"/>
              </a:rPr>
              <a:t>1/3 (+120 EGP)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5349240"/>
            <a:ext cx="237744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F2F4F8"/>
                </a:solidFill>
                <a:latin typeface="Segoe UI"/>
              </a:rPr>
              <a:t>Human minutes spent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5349240"/>
            <a:ext cx="155448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50" b="1">
                <a:solidFill>
                  <a:srgbClr val="25D366"/>
                </a:solidFill>
                <a:latin typeface="Segoe U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98932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Runs in &lt; 5 min with no API keys:  ./run.sh → localhost:8000 → ▶ Play demo   ·   18 automated tests (NLU, risk, fraud, end-to-end, API, prompt-injection)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MEASURED BUSINESS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56,379 EGP per month for a 600-order 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6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8E96A8"/>
                </a:solidFill>
                <a:latin typeface="Segoe UI"/>
              </a:rPr>
              <a:t>DOES IT WORK?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48840"/>
            <a:ext cx="22860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5D366"/>
                </a:solidFill>
                <a:latin typeface="Segoe UI"/>
              </a:rPr>
              <a:t>✓ 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71800"/>
            <a:ext cx="2240280" cy="1600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F2F4F8"/>
                </a:solidFill>
                <a:latin typeface="Segoe UI"/>
              </a:rPr>
              <a:t>WhatsApp / Telegram / web chat, courier booking, receipt checks — end to end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6002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178308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8E96A8"/>
                </a:solidFill>
                <a:latin typeface="Segoe UI"/>
              </a:rPr>
              <a:t>TIME SAVED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148840"/>
            <a:ext cx="22860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5D366"/>
                </a:solidFill>
                <a:latin typeface="Segoe UI"/>
              </a:rPr>
              <a:t>88 h / 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971800"/>
            <a:ext cx="2240280" cy="1600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F2F4F8"/>
                </a:solidFill>
                <a:latin typeface="Segoe UI"/>
              </a:rPr>
              <a:t>600 orders × 9 min no longer done by hand ≈ half a full-time job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6002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78308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8E96A8"/>
                </a:solidFill>
                <a:latin typeface="Segoe UI"/>
              </a:rPr>
              <a:t>COST SAVED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148840"/>
            <a:ext cx="22860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5A524"/>
                </a:solidFill>
                <a:latin typeface="Segoe UI"/>
              </a:rPr>
              <a:t>15,696 EGP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971800"/>
            <a:ext cx="2240280" cy="1600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F2F4F8"/>
                </a:solidFill>
                <a:latin typeface="Segoe UI"/>
              </a:rPr>
              <a:t>Staff time 3,960 EGP + refused-parcel losses avoided 11,736 EGP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0" y="16002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81160" y="178308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8E96A8"/>
                </a:solidFill>
                <a:latin typeface="Segoe UI"/>
              </a:rPr>
              <a:t>REVENUE GENERATED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60" y="2148840"/>
            <a:ext cx="22860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8B6CFF"/>
                </a:solidFill>
                <a:latin typeface="Segoe UI"/>
              </a:rPr>
              <a:t>40,683 EGP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2971800"/>
            <a:ext cx="2240280" cy="1600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F2F4F8"/>
                </a:solidFill>
                <a:latin typeface="Segoe UI"/>
              </a:rPr>
              <a:t>Upsell 12,600 EGP + after-hours orders 16,200 EGP + saved orders 11,883 EGP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846320"/>
            <a:ext cx="11109960" cy="1143000"/>
          </a:xfrm>
          <a:prstGeom prst="roundRect">
            <a:avLst>
              <a:gd name="adj" fmla="val 8000"/>
            </a:avLst>
          </a:prstGeom>
          <a:solidFill>
            <a:srgbClr val="122A1C"/>
          </a:solidFill>
          <a:ln w="12700">
            <a:solidFill>
              <a:srgbClr val="25D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37760"/>
            <a:ext cx="685800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8E96A8"/>
                </a:solidFill>
                <a:latin typeface="Segoe UI"/>
              </a:rPr>
              <a:t>Refusal rate  </a:t>
            </a:r>
            <a:r>
              <a:rPr sz="3000" b="1">
                <a:solidFill>
                  <a:srgbClr val="25D366"/>
                </a:solidFill>
                <a:latin typeface="Segoe UI"/>
              </a:rPr>
              <a:t>25%  →  8.7%</a:t>
            </a:r>
          </a:p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≈ 98 fewer refused parcels every month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937760"/>
            <a:ext cx="384048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3000" b="1">
                <a:solidFill>
                  <a:srgbClr val="25D366"/>
                </a:solidFill>
                <a:latin typeface="Segoe UI"/>
              </a:rPr>
              <a:t>56,379 EGP</a:t>
            </a:r>
          </a:p>
          <a:p>
            <a:pPr algn="r"/>
            <a:r>
              <a:rPr sz="1200" b="0">
                <a:solidFill>
                  <a:srgbClr val="8E96A8"/>
                </a:solidFill>
                <a:latin typeface="Segoe UI"/>
              </a:rPr>
              <a:t>total monthly impact (cost saved + new revenue)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080760"/>
            <a:ext cx="11155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Projection from the pilot baseline (slide 9 lists every assumption). Measured counters come from the agent's event log.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WHERE THE MONEY COMES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Monthly impact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7 / 13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48640" y="1554480"/>
          <a:ext cx="694944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863840" y="1554480"/>
            <a:ext cx="3794760" cy="448056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2440" y="1737360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5D366"/>
                </a:solidFill>
                <a:latin typeface="Segoe UI"/>
              </a:rPr>
              <a:t>Reading the chart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148840"/>
            <a:ext cx="3383280" cy="3840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25D366"/>
                </a:solidFill>
                <a:latin typeface="Segoe UI"/>
              </a:rPr>
              <a:t>■ </a:t>
            </a:r>
            <a:r>
              <a:rPr sz="1300" b="1">
                <a:solidFill>
                  <a:srgbClr val="F2F4F8"/>
                </a:solidFill>
                <a:latin typeface="Segoe UI"/>
              </a:rPr>
              <a:t>Cost saved</a:t>
            </a:r>
            <a:r>
              <a:rPr sz="1300" b="0">
                <a:solidFill>
                  <a:srgbClr val="8E96A8"/>
                </a:solidFill>
                <a:latin typeface="Segoe UI"/>
              </a:rPr>
              <a:t> — time the owner gets back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F5A524"/>
                </a:solidFill>
                <a:latin typeface="Segoe UI"/>
              </a:rPr>
              <a:t>■ </a:t>
            </a:r>
            <a:r>
              <a:rPr sz="1300" b="1">
                <a:solidFill>
                  <a:srgbClr val="F2F4F8"/>
                </a:solidFill>
                <a:latin typeface="Segoe UI"/>
              </a:rPr>
              <a:t>Cost saved</a:t>
            </a:r>
            <a:r>
              <a:rPr sz="1300" b="0">
                <a:solidFill>
                  <a:srgbClr val="8E96A8"/>
                </a:solidFill>
                <a:latin typeface="Segoe UI"/>
              </a:rPr>
              <a:t> — outbound + return fees on parcels that would have been refused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8B6CFF"/>
                </a:solidFill>
                <a:latin typeface="Segoe UI"/>
              </a:rPr>
              <a:t>■ </a:t>
            </a:r>
            <a:r>
              <a:rPr sz="1300" b="1">
                <a:solidFill>
                  <a:srgbClr val="F2F4F8"/>
                </a:solidFill>
                <a:latin typeface="Segoe UI"/>
              </a:rPr>
              <a:t>New revenue</a:t>
            </a:r>
            <a:r>
              <a:rPr sz="1300" b="0">
                <a:solidFill>
                  <a:srgbClr val="8E96A8"/>
                </a:solidFill>
                <a:latin typeface="Segoe UI"/>
              </a:rPr>
              <a:t> — upsells, DMs answered at 2 AM, and orders the deposit turns into real sales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F2F4F8"/>
                </a:solidFill>
                <a:latin typeface="Segoe UI"/>
              </a:rPr>
              <a:t/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F2F4F8"/>
                </a:solidFill>
                <a:latin typeface="Segoe UI"/>
              </a:rPr>
              <a:t>Biggest single lever: </a:t>
            </a:r>
            <a:r>
              <a:rPr sz="1300" b="0">
                <a:solidFill>
                  <a:srgbClr val="8E96A8"/>
                </a:solidFill>
                <a:latin typeface="Segoe UI"/>
              </a:rPr>
              <a:t>the deposit gate. It only asks the ~30% riskiest orders for 100 EGP, so good customers never feel friction.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WHY THIS AGENT, NOT A CHATBOT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Built for the Egyptian market and for money-safety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8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7315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800" b="0">
                <a:solidFill>
                  <a:srgbClr val="F2F4F8"/>
                </a:solidFill>
                <a:latin typeface="Segoe UI Emoji"/>
              </a:rPr>
              <a:t>🗣️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737360"/>
            <a:ext cx="42976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2F4F8"/>
                </a:solidFill>
                <a:latin typeface="Segoe UI"/>
              </a:rPr>
              <a:t>Speaks the customer's language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148840"/>
            <a:ext cx="43434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Egyptian Arabic, Franco-Arabic, Arabic-Indic digits, voice notes, Egyptian areas → shipping zones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60020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783080"/>
            <a:ext cx="7315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800" b="0">
                <a:solidFill>
                  <a:srgbClr val="F2F4F8"/>
                </a:solidFill>
                <a:latin typeface="Segoe UI Emoji"/>
              </a:rPr>
              <a:t>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1737360"/>
            <a:ext cx="42976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2F4F8"/>
                </a:solidFill>
                <a:latin typeface="Segoe UI"/>
              </a:rPr>
              <a:t>Local payment rails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148840"/>
            <a:ext cx="43434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InstaPay &amp; Vodafone Cash deposits with screenshot fraud checks (wrong account, low amount, failed, reused)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6324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46120"/>
            <a:ext cx="7315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800" b="0">
                <a:solidFill>
                  <a:srgbClr val="F2F4F8"/>
                </a:solidFill>
                <a:latin typeface="Segoe UI Emoji"/>
              </a:rPr>
              <a:t>🛡️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200400"/>
            <a:ext cx="42976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2F4F8"/>
                </a:solidFill>
                <a:latin typeface="Segoe UI"/>
              </a:rPr>
              <a:t>Can't be talked into losses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611880"/>
            <a:ext cx="43434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Prices, totals, deposits and shipments are code, not LLM output — prompt-injection test included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06324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3246120"/>
            <a:ext cx="7315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800" b="0">
                <a:solidFill>
                  <a:srgbClr val="F2F4F8"/>
                </a:solidFill>
                <a:latin typeface="Segoe UI Emoji"/>
              </a:rPr>
              <a:t>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3200400"/>
            <a:ext cx="42976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2F4F8"/>
                </a:solidFill>
                <a:latin typeface="Segoe UI"/>
              </a:rPr>
              <a:t>Explainable decisions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611880"/>
            <a:ext cx="43434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Every risk score lists its reasons; every action is logged and visible to the owner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52628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709160"/>
            <a:ext cx="7315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800" b="0">
                <a:solidFill>
                  <a:srgbClr val="F2F4F8"/>
                </a:solidFill>
                <a:latin typeface="Segoe UI Emoji"/>
              </a:rPr>
              <a:t>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663440"/>
            <a:ext cx="42976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2F4F8"/>
                </a:solidFill>
                <a:latin typeface="Segoe UI"/>
              </a:rPr>
              <a:t>Zero setup, zero cost to try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" y="5074920"/>
            <a:ext cx="43434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Runs fully offline with no API keys; add an LLM, WhatsApp, Telegram or Bosta key when ready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52628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709160"/>
            <a:ext cx="7315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800" b="0">
                <a:solidFill>
                  <a:srgbClr val="F2F4F8"/>
                </a:solidFill>
                <a:latin typeface="Segoe UI Emoji"/>
              </a:rPr>
              <a:t>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4663440"/>
            <a:ext cx="42976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2F4F8"/>
                </a:solidFill>
                <a:latin typeface="Segoe UI"/>
              </a:rPr>
              <a:t>New shop in minutes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5074920"/>
            <a:ext cx="43434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Catalogue, upsell pairs, zones, fees and deposit policy live in one store.json file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HOW WE MEASURED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Every number is traceable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9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5D366"/>
                </a:solidFill>
                <a:latin typeface="Segoe UI"/>
              </a:rPr>
              <a:t>Measured by the agent (event log)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2F4F8"/>
                </a:solidFill>
                <a:latin typeface="Segoe UI"/>
              </a:rPr>
              <a:t>• orders created / confirmed / auto-shipped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2F4F8"/>
                </a:solidFill>
                <a:latin typeface="Segoe UI"/>
              </a:rPr>
              <a:t>• risky orders flagged and their reasons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2F4F8"/>
                </a:solidFill>
                <a:latin typeface="Segoe UI"/>
              </a:rPr>
              <a:t>• deposits verified, fake receipts blocked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2F4F8"/>
                </a:solidFill>
                <a:latin typeface="Segoe UI"/>
              </a:rPr>
              <a:t>• risky parcels stopped before shipping + fees saved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2F4F8"/>
                </a:solidFill>
                <a:latin typeface="Segoe UI"/>
              </a:rPr>
              <a:t>• upsells offered vs accepted, upsell revenue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2F4F8"/>
                </a:solidFill>
                <a:latin typeface="Segoe UI"/>
              </a:rPr>
              <a:t>• after-hours orders, human minutes spent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2F4F8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2F4F8"/>
                </a:solidFill>
                <a:latin typeface="Segoe UI"/>
              </a:rPr>
              <a:t>Live at /api/impact and on the dashboard.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50876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5A524"/>
                </a:solidFill>
                <a:latin typeface="Segoe UI"/>
              </a:rPr>
              <a:t>Pilot baseline used for the monthly projection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09360" y="1920240"/>
          <a:ext cx="5349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574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F2F4F8"/>
                          </a:solidFill>
                          <a:latin typeface="Segoe UI"/>
                        </a:rPr>
                        <a:t>Orders / month</a:t>
                      </a:r>
                    </a:p>
                  </a:txBody>
                  <a:tcPr marL="109728">
                    <a:solidFill>
                      <a:srgbClr val="181C2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2F4F8"/>
                          </a:solidFill>
                          <a:latin typeface="Segoe UI"/>
                        </a:rPr>
                        <a:t>600</a:t>
                      </a:r>
                    </a:p>
                  </a:txBody>
                  <a:tcPr marL="109728">
                    <a:solidFill>
                      <a:srgbClr val="181C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F2F4F8"/>
                          </a:solidFill>
                          <a:latin typeface="Segoe UI"/>
                        </a:rPr>
                        <a:t>Manual minutes / order</a:t>
                      </a:r>
                    </a:p>
                  </a:txBody>
                  <a:tcPr marL="109728">
                    <a:solidFill>
                      <a:srgbClr val="1F242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2F4F8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09728">
                    <a:solidFill>
                      <a:srgbClr val="1F242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F2F4F8"/>
                          </a:solidFill>
                          <a:latin typeface="Segoe UI"/>
                        </a:rPr>
                        <a:t>Staff cost / hour</a:t>
                      </a:r>
                    </a:p>
                  </a:txBody>
                  <a:tcPr marL="109728">
                    <a:solidFill>
                      <a:srgbClr val="181C2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2F4F8"/>
                          </a:solidFill>
                          <a:latin typeface="Segoe UI"/>
                        </a:rPr>
                        <a:t>45 EGP</a:t>
                      </a:r>
                    </a:p>
                  </a:txBody>
                  <a:tcPr marL="109728">
                    <a:solidFill>
                      <a:srgbClr val="181C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F2F4F8"/>
                          </a:solidFill>
                          <a:latin typeface="Segoe UI"/>
                        </a:rPr>
                        <a:t>Baseline refusal rate</a:t>
                      </a:r>
                    </a:p>
                  </a:txBody>
                  <a:tcPr marL="109728">
                    <a:solidFill>
                      <a:srgbClr val="1F242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2F4F8"/>
                          </a:solidFill>
                          <a:latin typeface="Segoe UI"/>
                        </a:rPr>
                        <a:t>25%</a:t>
                      </a:r>
                    </a:p>
                  </a:txBody>
                  <a:tcPr marL="109728">
                    <a:solidFill>
                      <a:srgbClr val="1F242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F2F4F8"/>
                          </a:solidFill>
                          <a:latin typeface="Segoe UI"/>
                        </a:rPr>
                        <a:t>Refusal rate with deposit</a:t>
                      </a:r>
                    </a:p>
                  </a:txBody>
                  <a:tcPr marL="109728">
                    <a:solidFill>
                      <a:srgbClr val="181C2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2F4F8"/>
                          </a:solidFill>
                          <a:latin typeface="Segoe UI"/>
                        </a:rPr>
                        <a:t>4%</a:t>
                      </a:r>
                    </a:p>
                  </a:txBody>
                  <a:tcPr marL="109728">
                    <a:solidFill>
                      <a:srgbClr val="181C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F2F4F8"/>
                          </a:solidFill>
                          <a:latin typeface="Segoe UI"/>
                        </a:rPr>
                        <a:t>Share of orders flagged risky</a:t>
                      </a:r>
                    </a:p>
                  </a:txBody>
                  <a:tcPr marL="109728">
                    <a:solidFill>
                      <a:srgbClr val="1F242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2F4F8"/>
                          </a:solidFill>
                          <a:latin typeface="Segoe UI"/>
                        </a:rPr>
                        <a:t>30%</a:t>
                      </a:r>
                    </a:p>
                  </a:txBody>
                  <a:tcPr marL="109728">
                    <a:solidFill>
                      <a:srgbClr val="1F242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F2F4F8"/>
                          </a:solidFill>
                          <a:latin typeface="Segoe UI"/>
                        </a:rPr>
                        <a:t>Loss per refused parcel</a:t>
                      </a:r>
                    </a:p>
                  </a:txBody>
                  <a:tcPr marL="109728">
                    <a:solidFill>
                      <a:srgbClr val="181C2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2F4F8"/>
                          </a:solidFill>
                          <a:latin typeface="Segoe UI"/>
                        </a:rPr>
                        <a:t>120 EGP</a:t>
                      </a:r>
                    </a:p>
                  </a:txBody>
                  <a:tcPr marL="109728">
                    <a:solidFill>
                      <a:srgbClr val="181C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F2F4F8"/>
                          </a:solidFill>
                          <a:latin typeface="Segoe UI"/>
                        </a:rPr>
                        <a:t>Average basket</a:t>
                      </a:r>
                    </a:p>
                  </a:txBody>
                  <a:tcPr marL="109728">
                    <a:solidFill>
                      <a:srgbClr val="1F242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2F4F8"/>
                          </a:solidFill>
                          <a:latin typeface="Segoe UI"/>
                        </a:rPr>
                        <a:t>540 EGP</a:t>
                      </a:r>
                    </a:p>
                  </a:txBody>
                  <a:tcPr marL="109728">
                    <a:solidFill>
                      <a:srgbClr val="1F242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F2F4F8"/>
                          </a:solidFill>
                          <a:latin typeface="Segoe UI"/>
                        </a:rPr>
                        <a:t>Gross margin</a:t>
                      </a:r>
                    </a:p>
                  </a:txBody>
                  <a:tcPr marL="109728">
                    <a:solidFill>
                      <a:srgbClr val="181C2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2F4F8"/>
                          </a:solidFill>
                          <a:latin typeface="Segoe UI"/>
                        </a:rPr>
                        <a:t>45%</a:t>
                      </a:r>
                    </a:p>
                  </a:txBody>
                  <a:tcPr marL="109728">
                    <a:solidFill>
                      <a:srgbClr val="181C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F2F4F8"/>
                          </a:solidFill>
                          <a:latin typeface="Segoe UI"/>
                        </a:rPr>
                        <a:t>Upsell acceptance used</a:t>
                      </a:r>
                    </a:p>
                  </a:txBody>
                  <a:tcPr marL="109728">
                    <a:solidFill>
                      <a:srgbClr val="1F242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2F4F8"/>
                          </a:solidFill>
                          <a:latin typeface="Segoe UI"/>
                        </a:rPr>
                        <a:t>22% (capped at 25%)</a:t>
                      </a:r>
                    </a:p>
                  </a:txBody>
                  <a:tcPr marL="109728">
                    <a:solidFill>
                      <a:srgbClr val="1F242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6035040"/>
            <a:ext cx="111556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E96A8"/>
                </a:solidFill>
                <a:latin typeface="Segoe UI"/>
              </a:rPr>
              <a:t>Conservative by design: upsell rate is blended with a 15% prior and capped; only half of saved orders are counted as sales.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From hackathon to a product SMEs hire on Wesam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10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310896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400" b="1">
                <a:solidFill>
                  <a:srgbClr val="25D366"/>
                </a:solidFill>
                <a:latin typeface="Segoe UI"/>
              </a:rPr>
              <a:t>750 EGP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suggested price / month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310896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E96A8"/>
                </a:solidFill>
                <a:latin typeface="Segoe UI"/>
              </a:rPr>
              <a:t>Less than one refused parcel a 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60020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1783080"/>
            <a:ext cx="310896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400" b="1">
                <a:solidFill>
                  <a:srgbClr val="25D366"/>
                </a:solidFill>
                <a:latin typeface="Segoe UI"/>
              </a:rPr>
              <a:t>75×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4688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return on price for the pilot shop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2788920"/>
            <a:ext cx="310896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E96A8"/>
                </a:solidFill>
                <a:latin typeface="Segoe UI"/>
              </a:rPr>
              <a:t>Pays for itself in the first ~day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60020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783080"/>
            <a:ext cx="310896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400" b="1">
                <a:solidFill>
                  <a:srgbClr val="25D366"/>
                </a:solidFill>
                <a:latin typeface="Segoe UI"/>
              </a:rPr>
              <a:t>&lt; 1 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4688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to onboard a new shop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788920"/>
            <a:ext cx="310896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E96A8"/>
                </a:solidFill>
                <a:latin typeface="Segoe UI"/>
              </a:rPr>
              <a:t>Edit store.json, connect WhatsApp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88620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5D366"/>
                </a:solidFill>
                <a:latin typeface="Segoe UI"/>
              </a:rPr>
              <a:t>Roadmap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297680"/>
            <a:ext cx="11109960" cy="40233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297680"/>
            <a:ext cx="2011680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5D366"/>
                </a:solidFill>
                <a:latin typeface="Segoe UI"/>
              </a:rPr>
              <a:t>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4297680"/>
            <a:ext cx="8778240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Web + Telegram + WhatsApp webhook, Bosta, receipt checks, dashboard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773168"/>
            <a:ext cx="11109960" cy="40233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773168"/>
            <a:ext cx="2011680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5D366"/>
                </a:solidFill>
                <a:latin typeface="Segoe UI"/>
              </a:rPr>
              <a:t>Next 30 days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773168"/>
            <a:ext cx="8778240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Pilot with 3 real shops; calibrate risk weights on their order history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248656"/>
            <a:ext cx="11109960" cy="40233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248656"/>
            <a:ext cx="2011680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5D366"/>
                </a:solidFill>
                <a:latin typeface="Segoe UI"/>
              </a:rPr>
              <a:t>Then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5248656"/>
            <a:ext cx="8778240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Instagram DM channel, Shopify/WooCommerce sync, courier status → auto follow-ups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724144"/>
            <a:ext cx="11109960" cy="40233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724144"/>
            <a:ext cx="2011680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5D366"/>
                </a:solidFill>
                <a:latin typeface="Segoe UI"/>
              </a:rPr>
              <a:t>Scale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5724144"/>
            <a:ext cx="8778240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List on Wesam's marketplace so any Egyptian SME can hire it in one click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SEE IT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Run it in under five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11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577840" cy="438912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5D366"/>
                </a:solidFill>
                <a:latin typeface="Segoe UI"/>
              </a:rPr>
              <a:t>Judge quick-start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48840"/>
            <a:ext cx="512064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2F4F8"/>
                </a:solidFill>
                <a:latin typeface="Consolas"/>
              </a:rPr>
              <a:t>git clone https://github.com/MahmoudJimmey/Ta2keed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2F4F8"/>
                </a:solidFill>
                <a:latin typeface="Consolas"/>
              </a:rPr>
              <a:t>cd Ta2keed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2F4F8"/>
                </a:solidFill>
                <a:latin typeface="Consolas"/>
              </a:rPr>
              <a:t>./run.sh        # Windows: run.bat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2F4F8"/>
                </a:solidFill>
                <a:latin typeface="Consolas"/>
              </a:rPr>
              <a:t># open http://localhost:8000  →  ▶ Play demo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2F4F8"/>
                </a:solidFill>
                <a:latin typeface="Consolas"/>
              </a:rPr>
              <a:t>pytest -q       # 18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5120640" cy="1554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E96A8"/>
                </a:solidFill>
                <a:latin typeface="Segoe UI"/>
              </a:rPr>
              <a:t>No API keys, no accounts, no database server.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E96A8"/>
                </a:solidFill>
                <a:latin typeface="Segoe UI"/>
              </a:rPr>
              <a:t>Optional .env adds LLM, WhatsApp, Telegram, Bosta.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600200"/>
            <a:ext cx="5303520" cy="438912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737360"/>
            <a:ext cx="48463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5D366"/>
                </a:solidFill>
                <a:latin typeface="Segoe UI"/>
              </a:rPr>
              <a:t>Four demo scenarios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194560"/>
            <a:ext cx="489204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5D366"/>
                </a:solidFill>
                <a:latin typeface="Segoe UI"/>
              </a:rPr>
              <a:t>1. </a:t>
            </a:r>
            <a:r>
              <a:rPr sz="1300" b="0">
                <a:solidFill>
                  <a:srgbClr val="F2F4F8"/>
                </a:solidFill>
                <a:latin typeface="Segoe UI"/>
              </a:rPr>
              <a:t>Messy Franco/Arabic order → upsell → confirmed → shipped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108960"/>
            <a:ext cx="489204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5D366"/>
                </a:solidFill>
                <a:latin typeface="Segoe UI"/>
              </a:rPr>
              <a:t>2. </a:t>
            </a:r>
            <a:r>
              <a:rPr sz="1300" b="0">
                <a:solidFill>
                  <a:srgbClr val="F2F4F8"/>
                </a:solidFill>
                <a:latin typeface="Segoe UI"/>
              </a:rPr>
              <a:t>Risky first-time order → InstaPay deposit → fake screenshot caught → real one accepted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023360"/>
            <a:ext cx="489204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5D366"/>
                </a:solidFill>
                <a:latin typeface="Segoe UI"/>
              </a:rPr>
              <a:t>3. </a:t>
            </a:r>
            <a:r>
              <a:rPr sz="1300" b="0">
                <a:solidFill>
                  <a:srgbClr val="F2F4F8"/>
                </a:solidFill>
                <a:latin typeface="Segoe UI"/>
              </a:rPr>
              <a:t>Customer with 3 past refusals → deposit required → customer cancels (return fee saved)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937760"/>
            <a:ext cx="489204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5D366"/>
                </a:solidFill>
                <a:latin typeface="Segoe UI"/>
              </a:rPr>
              <a:t>4. </a:t>
            </a:r>
            <a:r>
              <a:rPr sz="1300" b="0">
                <a:solidFill>
                  <a:srgbClr val="F2F4F8"/>
                </a:solidFill>
                <a:latin typeface="Segoe UI"/>
              </a:rPr>
              <a:t>Customer asks questions first (shipping, sizes) then orders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HONEST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What could go wrong — and how we handle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12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3931920" cy="749808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FF5D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365760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Rules miss an unusual message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600200"/>
            <a:ext cx="6995160" cy="749808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1600200"/>
            <a:ext cx="667512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>
                <a:solidFill>
                  <a:srgbClr val="F2F4F8"/>
                </a:solidFill>
                <a:latin typeface="Segoe UI"/>
              </a:rPr>
              <a:t>Falls back to the LLM when configured; always asks instead of guessing; owner sees every order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68880"/>
            <a:ext cx="3931920" cy="749808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FF5D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468880"/>
            <a:ext cx="365760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Fake receipts get more sophisticated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2468880"/>
            <a:ext cx="6995160" cy="749808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2468880"/>
            <a:ext cx="667512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>
                <a:solidFill>
                  <a:srgbClr val="F2F4F8"/>
                </a:solidFill>
                <a:latin typeface="Segoe UI"/>
              </a:rPr>
              <a:t>Checks recipient, amount, status, duplicate reference &amp; image hash; flags edited-looking screenshots; owner alert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337560"/>
            <a:ext cx="3931920" cy="749808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FF5D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37560"/>
            <a:ext cx="365760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Deposit annoys good customers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3337560"/>
            <a:ext cx="6995160" cy="749808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3337560"/>
            <a:ext cx="667512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>
                <a:solidFill>
                  <a:srgbClr val="F2F4F8"/>
                </a:solidFill>
                <a:latin typeface="Segoe UI"/>
              </a:rPr>
              <a:t>Only the riskiest ~30% are asked; trusted repeat buyers get a lower score automatically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206240"/>
            <a:ext cx="3931920" cy="749808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FF5D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206240"/>
            <a:ext cx="365760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Risk weights are generic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63440" y="4206240"/>
            <a:ext cx="6995160" cy="749808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4206240"/>
            <a:ext cx="667512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>
                <a:solidFill>
                  <a:srgbClr val="F2F4F8"/>
                </a:solidFill>
                <a:latin typeface="Segoe UI"/>
              </a:rPr>
              <a:t>Transparent weights; calibrate on each shop's own delivered/refused history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74920"/>
            <a:ext cx="3931920" cy="749808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FF5D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074920"/>
            <a:ext cx="365760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WhatsApp API needs Meta approval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63440" y="5074920"/>
            <a:ext cx="6995160" cy="749808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46320" y="5074920"/>
            <a:ext cx="667512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>
                <a:solidFill>
                  <a:srgbClr val="F2F4F8"/>
                </a:solidFill>
                <a:latin typeface="Segoe UI"/>
              </a:rPr>
              <a:t>Telegram + web chat work today; WhatsApp webhook is implemented and ready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600" b="1">
                <a:solidFill>
                  <a:srgbClr val="F2F4F8"/>
                </a:solidFill>
                <a:latin typeface="Segoe UI"/>
              </a:rPr>
              <a:t>Every COD order confirmed, de-risked, shipped.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>
                <a:solidFill>
                  <a:srgbClr val="8E96A8"/>
                </a:solidFill>
                <a:latin typeface="Segoe UI"/>
              </a:rPr>
              <a:t>No human in the loop. No new app for the customer. Just WhatsApp.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3337560" cy="123444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749039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5D366"/>
                </a:solidFill>
                <a:latin typeface="Segoe UI"/>
              </a:rPr>
              <a:t>88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358640"/>
            <a:ext cx="2880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time saved / month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566160"/>
            <a:ext cx="3337560" cy="123444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3749039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5D366"/>
                </a:solidFill>
                <a:latin typeface="Segoe UI"/>
              </a:rPr>
              <a:t>15,696 EGP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4358640"/>
            <a:ext cx="2880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cost saved / month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3566160"/>
            <a:ext cx="3337560" cy="123444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3749039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5D366"/>
                </a:solidFill>
                <a:latin typeface="Segoe UI"/>
              </a:rPr>
              <a:t>40,683 EGP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4358640"/>
            <a:ext cx="2880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new revenue / month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3035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25D366"/>
                </a:solidFill>
                <a:latin typeface="Segoe UI"/>
              </a:rPr>
              <a:t>github.com/MahmoudJimmey/Ta2keed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8E96A8"/>
                </a:solidFill>
                <a:latin typeface="Segoe UI"/>
              </a:rPr>
              <a:t>Mahmoud Gamal · Agents at Work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